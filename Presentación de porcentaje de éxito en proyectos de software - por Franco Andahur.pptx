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Codec Pro" panose="020B0604020202020204" charset="0"/>
      <p:regular r:id="rId11"/>
    </p:embeddedFont>
    <p:embeddedFont>
      <p:font typeface="Codec Pro Bold" panose="020B0604020202020204" charset="0"/>
      <p:regular r:id="rId12"/>
    </p:embeddedFont>
    <p:embeddedFont>
      <p:font typeface="Codec Pro Ultra-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9" d="100"/>
          <a:sy n="49" d="100"/>
        </p:scale>
        <p:origin x="1042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7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1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5C69F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03384" y="-1675084"/>
            <a:ext cx="6000534" cy="3567590"/>
          </a:xfrm>
          <a:custGeom>
            <a:avLst/>
            <a:gdLst/>
            <a:ahLst/>
            <a:cxnLst/>
            <a:rect l="l" t="t" r="r" b="b"/>
            <a:pathLst>
              <a:path w="6000534" h="3567590">
                <a:moveTo>
                  <a:pt x="0" y="0"/>
                </a:moveTo>
                <a:lnTo>
                  <a:pt x="6000534" y="0"/>
                </a:lnTo>
                <a:lnTo>
                  <a:pt x="6000534" y="3567591"/>
                </a:lnTo>
                <a:lnTo>
                  <a:pt x="0" y="35675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12542441" y="8591206"/>
            <a:ext cx="6000534" cy="3567590"/>
          </a:xfrm>
          <a:custGeom>
            <a:avLst/>
            <a:gdLst/>
            <a:ahLst/>
            <a:cxnLst/>
            <a:rect l="l" t="t" r="r" b="b"/>
            <a:pathLst>
              <a:path w="6000534" h="3567590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741048" y="537816"/>
            <a:ext cx="6000534" cy="3567590"/>
          </a:xfrm>
          <a:custGeom>
            <a:avLst/>
            <a:gdLst/>
            <a:ahLst/>
            <a:cxnLst/>
            <a:rect l="l" t="t" r="r" b="b"/>
            <a:pathLst>
              <a:path w="6000534" h="3567590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14180105" y="6181594"/>
            <a:ext cx="6000534" cy="3567590"/>
          </a:xfrm>
          <a:custGeom>
            <a:avLst/>
            <a:gdLst/>
            <a:ahLst/>
            <a:cxnLst/>
            <a:rect l="l" t="t" r="r" b="b"/>
            <a:pathLst>
              <a:path w="6000534" h="3567590">
                <a:moveTo>
                  <a:pt x="0" y="0"/>
                </a:moveTo>
                <a:lnTo>
                  <a:pt x="6000534" y="0"/>
                </a:lnTo>
                <a:lnTo>
                  <a:pt x="6000534" y="3567590"/>
                </a:lnTo>
                <a:lnTo>
                  <a:pt x="0" y="3567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2904533" y="-494599"/>
            <a:ext cx="5081972" cy="3021463"/>
          </a:xfrm>
          <a:custGeom>
            <a:avLst/>
            <a:gdLst/>
            <a:ahLst/>
            <a:cxnLst/>
            <a:rect l="l" t="t" r="r" b="b"/>
            <a:pathLst>
              <a:path w="5081972" h="3021463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3275713" y="4625635"/>
            <a:ext cx="5081972" cy="3021463"/>
          </a:xfrm>
          <a:custGeom>
            <a:avLst/>
            <a:gdLst/>
            <a:ahLst/>
            <a:cxnLst/>
            <a:rect l="l" t="t" r="r" b="b"/>
            <a:pathLst>
              <a:path w="5081972" h="3021463">
                <a:moveTo>
                  <a:pt x="0" y="0"/>
                </a:moveTo>
                <a:lnTo>
                  <a:pt x="5081972" y="0"/>
                </a:lnTo>
                <a:lnTo>
                  <a:pt x="5081972" y="3021463"/>
                </a:lnTo>
                <a:lnTo>
                  <a:pt x="0" y="30214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14960748" y="7760135"/>
            <a:ext cx="5081972" cy="3021463"/>
          </a:xfrm>
          <a:custGeom>
            <a:avLst/>
            <a:gdLst/>
            <a:ahLst/>
            <a:cxnLst/>
            <a:rect l="l" t="t" r="r" b="b"/>
            <a:pathLst>
              <a:path w="5081972" h="3021463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16481741" y="2654155"/>
            <a:ext cx="5081972" cy="3021463"/>
          </a:xfrm>
          <a:custGeom>
            <a:avLst/>
            <a:gdLst/>
            <a:ahLst/>
            <a:cxnLst/>
            <a:rect l="l" t="t" r="r" b="b"/>
            <a:pathLst>
              <a:path w="5081972" h="3021463">
                <a:moveTo>
                  <a:pt x="0" y="0"/>
                </a:moveTo>
                <a:lnTo>
                  <a:pt x="5081972" y="0"/>
                </a:lnTo>
                <a:lnTo>
                  <a:pt x="5081972" y="3021464"/>
                </a:lnTo>
                <a:lnTo>
                  <a:pt x="0" y="3021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311364" y="4045928"/>
            <a:ext cx="13665272" cy="2271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8639" b="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Porcentaje de éxito en los proyectos de software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531401" y="7032332"/>
            <a:ext cx="7225199" cy="700433"/>
            <a:chOff x="0" y="0"/>
            <a:chExt cx="1356880" cy="1315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56880" cy="131540"/>
            </a:xfrm>
            <a:custGeom>
              <a:avLst/>
              <a:gdLst/>
              <a:ahLst/>
              <a:cxnLst/>
              <a:rect l="l" t="t" r="r" b="b"/>
              <a:pathLst>
                <a:path w="1356880" h="131540">
                  <a:moveTo>
                    <a:pt x="65770" y="0"/>
                  </a:moveTo>
                  <a:lnTo>
                    <a:pt x="1291110" y="0"/>
                  </a:lnTo>
                  <a:cubicBezTo>
                    <a:pt x="1327434" y="0"/>
                    <a:pt x="1356880" y="29446"/>
                    <a:pt x="1356880" y="65770"/>
                  </a:cubicBezTo>
                  <a:lnTo>
                    <a:pt x="1356880" y="65770"/>
                  </a:lnTo>
                  <a:cubicBezTo>
                    <a:pt x="1356880" y="83213"/>
                    <a:pt x="1349951" y="99942"/>
                    <a:pt x="1337617" y="112276"/>
                  </a:cubicBezTo>
                  <a:cubicBezTo>
                    <a:pt x="1325283" y="124611"/>
                    <a:pt x="1308554" y="131540"/>
                    <a:pt x="1291110" y="131540"/>
                  </a:cubicBezTo>
                  <a:lnTo>
                    <a:pt x="65770" y="131540"/>
                  </a:lnTo>
                  <a:cubicBezTo>
                    <a:pt x="29446" y="131540"/>
                    <a:pt x="0" y="102094"/>
                    <a:pt x="0" y="65770"/>
                  </a:cubicBezTo>
                  <a:lnTo>
                    <a:pt x="0" y="65770"/>
                  </a:lnTo>
                  <a:cubicBezTo>
                    <a:pt x="0" y="29446"/>
                    <a:pt x="29446" y="0"/>
                    <a:pt x="65770" y="0"/>
                  </a:cubicBezTo>
                  <a:close/>
                </a:path>
              </a:pathLst>
            </a:custGeom>
            <a:solidFill>
              <a:srgbClr val="5666F8"/>
            </a:solidFill>
            <a:ln cap="rnd">
              <a:noFill/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356880" cy="141065"/>
            </a:xfrm>
            <a:prstGeom prst="rect">
              <a:avLst/>
            </a:prstGeom>
          </p:spPr>
          <p:txBody>
            <a:bodyPr lIns="31918" tIns="31918" rIns="31918" bIns="31918" rtlCol="0" anchor="ctr"/>
            <a:lstStyle/>
            <a:p>
              <a:pPr algn="ctr">
                <a:lnSpc>
                  <a:spcPts val="1381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031727" y="1011307"/>
            <a:ext cx="1521336" cy="1310304"/>
          </a:xfrm>
          <a:custGeom>
            <a:avLst/>
            <a:gdLst/>
            <a:ahLst/>
            <a:cxnLst/>
            <a:rect l="l" t="t" r="r" b="b"/>
            <a:pathLst>
              <a:path w="1521336" h="1310304">
                <a:moveTo>
                  <a:pt x="0" y="0"/>
                </a:moveTo>
                <a:lnTo>
                  <a:pt x="1521336" y="0"/>
                </a:lnTo>
                <a:lnTo>
                  <a:pt x="1521336" y="1310304"/>
                </a:lnTo>
                <a:lnTo>
                  <a:pt x="0" y="13103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75611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6521477" y="7235129"/>
            <a:ext cx="5245047" cy="405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0"/>
              </a:lnSpc>
            </a:pPr>
            <a:r>
              <a:rPr lang="en-US" sz="2787" b="1" spc="78">
                <a:solidFill>
                  <a:srgbClr val="E4E5EC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POR FRANCO ANDAHUR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553063" y="1311229"/>
            <a:ext cx="2703210" cy="719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35"/>
              </a:lnSpc>
            </a:pPr>
            <a:r>
              <a:rPr lang="en-US" sz="2689" b="1" spc="182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UNIVERSIDAD DE ATACAMA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7795" y="-549566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626102" y="-549566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2789693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3" y="1658599"/>
                </a:lnTo>
                <a:lnTo>
                  <a:pt x="2789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60994" y="451930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559302" y="451930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47471" y="-422617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6772825" y="-422617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9416472"/>
            <a:ext cx="18288000" cy="870528"/>
          </a:xfrm>
          <a:custGeom>
            <a:avLst/>
            <a:gdLst/>
            <a:ahLst/>
            <a:cxnLst/>
            <a:rect l="l" t="t" r="r" b="b"/>
            <a:pathLst>
              <a:path w="18288000" h="870528">
                <a:moveTo>
                  <a:pt x="0" y="0"/>
                </a:moveTo>
                <a:lnTo>
                  <a:pt x="18288000" y="0"/>
                </a:lnTo>
                <a:lnTo>
                  <a:pt x="18288000" y="870528"/>
                </a:lnTo>
                <a:lnTo>
                  <a:pt x="0" y="8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00079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201900" y="5857663"/>
            <a:ext cx="2057400" cy="2046178"/>
          </a:xfrm>
          <a:custGeom>
            <a:avLst/>
            <a:gdLst/>
            <a:ahLst/>
            <a:cxnLst/>
            <a:rect l="l" t="t" r="r" b="b"/>
            <a:pathLst>
              <a:path w="2057400" h="2046178">
                <a:moveTo>
                  <a:pt x="0" y="0"/>
                </a:moveTo>
                <a:lnTo>
                  <a:pt x="2057400" y="0"/>
                </a:lnTo>
                <a:lnTo>
                  <a:pt x="2057400" y="2046178"/>
                </a:lnTo>
                <a:lnTo>
                  <a:pt x="0" y="20461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458165" y="2919336"/>
            <a:ext cx="1544871" cy="2129521"/>
          </a:xfrm>
          <a:custGeom>
            <a:avLst/>
            <a:gdLst/>
            <a:ahLst/>
            <a:cxnLst/>
            <a:rect l="l" t="t" r="r" b="b"/>
            <a:pathLst>
              <a:path w="1544871" h="2129521">
                <a:moveTo>
                  <a:pt x="0" y="0"/>
                </a:moveTo>
                <a:lnTo>
                  <a:pt x="1544870" y="0"/>
                </a:lnTo>
                <a:lnTo>
                  <a:pt x="1544870" y="2129521"/>
                </a:lnTo>
                <a:lnTo>
                  <a:pt x="0" y="21295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39547" y="1437684"/>
            <a:ext cx="4349402" cy="91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1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ESTUDIOS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88949" y="1437684"/>
            <a:ext cx="8424599" cy="91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1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NO TAN RECIENTES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089430"/>
            <a:ext cx="13632448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Según Standish group (firma consultora estadounidense), y a través del “CHAOS Report” (realizado por última vez el 2020), solo el 31% de los proyectos de software tienen éxito, cumpliendo todos los requisitos que esto conlleva (tiempo, presupuesto, alcance, etc.).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810038"/>
            <a:ext cx="13632448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Según McKinsey (2023), solo entre 44 % y 59 % de los proyectos de software/TI cumplen sus objetivos de beneficios, tiempo o presupuesto, mostrando que la mayoría enfrenta retrasos, sobrecostos o no entrega todos los resultados esperados.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7795" y="-549566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5626102" y="-549566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2789693" y="0"/>
                </a:moveTo>
                <a:lnTo>
                  <a:pt x="0" y="0"/>
                </a:lnTo>
                <a:lnTo>
                  <a:pt x="0" y="1658599"/>
                </a:lnTo>
                <a:lnTo>
                  <a:pt x="2789693" y="1658599"/>
                </a:lnTo>
                <a:lnTo>
                  <a:pt x="278969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60994" y="451930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2" y="0"/>
                </a:lnTo>
                <a:lnTo>
                  <a:pt x="2789692" y="1658600"/>
                </a:lnTo>
                <a:lnTo>
                  <a:pt x="0" y="1658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6559302" y="451930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2789692" y="0"/>
                </a:moveTo>
                <a:lnTo>
                  <a:pt x="0" y="0"/>
                </a:lnTo>
                <a:lnTo>
                  <a:pt x="0" y="1658600"/>
                </a:lnTo>
                <a:lnTo>
                  <a:pt x="2789692" y="1658600"/>
                </a:lnTo>
                <a:lnTo>
                  <a:pt x="278969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47471" y="-422617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0" y="0"/>
                </a:moveTo>
                <a:lnTo>
                  <a:pt x="2362646" y="0"/>
                </a:lnTo>
                <a:lnTo>
                  <a:pt x="2362646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6772825" y="-422617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2362646" y="0"/>
                </a:moveTo>
                <a:lnTo>
                  <a:pt x="0" y="0"/>
                </a:lnTo>
                <a:lnTo>
                  <a:pt x="0" y="1404701"/>
                </a:lnTo>
                <a:lnTo>
                  <a:pt x="2362646" y="1404701"/>
                </a:lnTo>
                <a:lnTo>
                  <a:pt x="236264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0" y="9416472"/>
            <a:ext cx="18288000" cy="870528"/>
          </a:xfrm>
          <a:custGeom>
            <a:avLst/>
            <a:gdLst/>
            <a:ahLst/>
            <a:cxnLst/>
            <a:rect l="l" t="t" r="r" b="b"/>
            <a:pathLst>
              <a:path w="18288000" h="870528">
                <a:moveTo>
                  <a:pt x="0" y="0"/>
                </a:moveTo>
                <a:lnTo>
                  <a:pt x="18288000" y="0"/>
                </a:lnTo>
                <a:lnTo>
                  <a:pt x="18288000" y="870528"/>
                </a:lnTo>
                <a:lnTo>
                  <a:pt x="0" y="870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2000794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5334069" y="6175530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334069" y="2946555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639547" y="1437684"/>
            <a:ext cx="4349402" cy="91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1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ESTUDIOS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988949" y="1437684"/>
            <a:ext cx="6816548" cy="916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1">
                <a:solidFill>
                  <a:srgbClr val="5666F8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MÁS RECIENTES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67051" y="6127905"/>
            <a:ext cx="13632448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just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Según un estudio reciente del MIT, publicado por la revista Times of India, los proyectos de software que utilizan IA generativa presentan una tasa de fracaso del 95 %, a pesar de que durante la primera mitad de 2025 esta área recibió una gran cantidad de inversión. Este alto índice de fracaso se atribuye principalmente a las altas expectativas en torno a la tecnología.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7051" y="3051330"/>
            <a:ext cx="13632448" cy="180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06" lvl="1" indent="-313053" algn="just">
              <a:lnSpc>
                <a:spcPts val="3479"/>
              </a:lnSpc>
              <a:buFont typeface="Arial"/>
              <a:buChar char="•"/>
            </a:pPr>
            <a:r>
              <a:rPr lang="en-US" sz="2899">
                <a:solidFill>
                  <a:srgbClr val="15193E"/>
                </a:solidFill>
                <a:latin typeface="Codec Pro"/>
                <a:ea typeface="Codec Pro"/>
                <a:cs typeface="Codec Pro"/>
                <a:sym typeface="Codec Pro"/>
              </a:rPr>
              <a:t>Según PMI (Project Management Institute), en un estudio reciente (septiembre de 2024) se replantea la definición de éxito: solo el 48 % de los proyectos se consideran exitosos, 40 % quedan en una “zona gris” (cumplen parcialmente los objetivos) y 12 % fallan claramente.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2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25388" y="1716698"/>
            <a:ext cx="1070406" cy="276506"/>
            <a:chOff x="0" y="0"/>
            <a:chExt cx="484642" cy="1251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4642" cy="125192"/>
            </a:xfrm>
            <a:custGeom>
              <a:avLst/>
              <a:gdLst/>
              <a:ahLst/>
              <a:cxnLst/>
              <a:rect l="l" t="t" r="r" b="b"/>
              <a:pathLst>
                <a:path w="484642" h="125192">
                  <a:moveTo>
                    <a:pt x="62596" y="0"/>
                  </a:moveTo>
                  <a:lnTo>
                    <a:pt x="422046" y="0"/>
                  </a:lnTo>
                  <a:cubicBezTo>
                    <a:pt x="456617" y="0"/>
                    <a:pt x="484642" y="28025"/>
                    <a:pt x="484642" y="62596"/>
                  </a:cubicBezTo>
                  <a:lnTo>
                    <a:pt x="484642" y="62596"/>
                  </a:lnTo>
                  <a:cubicBezTo>
                    <a:pt x="484642" y="97167"/>
                    <a:pt x="456617" y="125192"/>
                    <a:pt x="422046" y="125192"/>
                  </a:cubicBezTo>
                  <a:lnTo>
                    <a:pt x="62596" y="125192"/>
                  </a:lnTo>
                  <a:cubicBezTo>
                    <a:pt x="28025" y="125192"/>
                    <a:pt x="0" y="97167"/>
                    <a:pt x="0" y="62596"/>
                  </a:cubicBezTo>
                  <a:lnTo>
                    <a:pt x="0" y="62596"/>
                  </a:lnTo>
                  <a:cubicBezTo>
                    <a:pt x="0" y="28025"/>
                    <a:pt x="28025" y="0"/>
                    <a:pt x="62596" y="0"/>
                  </a:cubicBezTo>
                  <a:close/>
                </a:path>
              </a:pathLst>
            </a:custGeom>
            <a:solidFill>
              <a:srgbClr val="15193E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484642" cy="134717"/>
            </a:xfrm>
            <a:prstGeom prst="rect">
              <a:avLst/>
            </a:prstGeom>
          </p:spPr>
          <p:txBody>
            <a:bodyPr lIns="31918" tIns="31918" rIns="31918" bIns="31918" rtlCol="0" anchor="ctr"/>
            <a:lstStyle/>
            <a:p>
              <a:pPr algn="ctr">
                <a:lnSpc>
                  <a:spcPts val="1381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178431" y="-230885"/>
            <a:ext cx="18644862" cy="8466714"/>
          </a:xfrm>
          <a:custGeom>
            <a:avLst/>
            <a:gdLst/>
            <a:ahLst/>
            <a:cxnLst/>
            <a:rect l="l" t="t" r="r" b="b"/>
            <a:pathLst>
              <a:path w="18644862" h="8466714">
                <a:moveTo>
                  <a:pt x="0" y="0"/>
                </a:moveTo>
                <a:lnTo>
                  <a:pt x="18644862" y="0"/>
                </a:lnTo>
                <a:lnTo>
                  <a:pt x="18644862" y="8466714"/>
                </a:lnTo>
                <a:lnTo>
                  <a:pt x="0" y="84667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20213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807825" y="1028700"/>
            <a:ext cx="16672349" cy="8229600"/>
            <a:chOff x="0" y="0"/>
            <a:chExt cx="4391071" cy="216746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391072" cy="2167467"/>
            </a:xfrm>
            <a:custGeom>
              <a:avLst/>
              <a:gdLst/>
              <a:ahLst/>
              <a:cxnLst/>
              <a:rect l="l" t="t" r="r" b="b"/>
              <a:pathLst>
                <a:path w="4391072" h="2167467">
                  <a:moveTo>
                    <a:pt x="14859" y="0"/>
                  </a:moveTo>
                  <a:lnTo>
                    <a:pt x="4376212" y="0"/>
                  </a:lnTo>
                  <a:cubicBezTo>
                    <a:pt x="4380153" y="0"/>
                    <a:pt x="4383933" y="1566"/>
                    <a:pt x="4386719" y="4352"/>
                  </a:cubicBezTo>
                  <a:cubicBezTo>
                    <a:pt x="4389506" y="7139"/>
                    <a:pt x="4391072" y="10918"/>
                    <a:pt x="4391072" y="14859"/>
                  </a:cubicBezTo>
                  <a:lnTo>
                    <a:pt x="4391072" y="2152607"/>
                  </a:lnTo>
                  <a:cubicBezTo>
                    <a:pt x="4391072" y="2160814"/>
                    <a:pt x="4384419" y="2167467"/>
                    <a:pt x="4376212" y="2167467"/>
                  </a:cubicBezTo>
                  <a:lnTo>
                    <a:pt x="14859" y="2167467"/>
                  </a:lnTo>
                  <a:cubicBezTo>
                    <a:pt x="10918" y="2167467"/>
                    <a:pt x="7139" y="2165901"/>
                    <a:pt x="4352" y="2163114"/>
                  </a:cubicBezTo>
                  <a:cubicBezTo>
                    <a:pt x="1566" y="2160328"/>
                    <a:pt x="0" y="2156548"/>
                    <a:pt x="0" y="2152607"/>
                  </a:cubicBezTo>
                  <a:lnTo>
                    <a:pt x="0" y="14859"/>
                  </a:lnTo>
                  <a:cubicBezTo>
                    <a:pt x="0" y="10918"/>
                    <a:pt x="1566" y="7139"/>
                    <a:pt x="4352" y="4352"/>
                  </a:cubicBezTo>
                  <a:cubicBezTo>
                    <a:pt x="7139" y="1566"/>
                    <a:pt x="10918" y="0"/>
                    <a:pt x="14859" y="0"/>
                  </a:cubicBezTo>
                  <a:close/>
                </a:path>
              </a:pathLst>
            </a:custGeom>
            <a:solidFill>
              <a:srgbClr val="E4E5E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391071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203917" y="1783373"/>
            <a:ext cx="5585847" cy="91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58"/>
              </a:lnSpc>
            </a:pPr>
            <a:r>
              <a:rPr lang="en-US" sz="6444" b="1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BIBLIOGRAFÍA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7825" y="3506811"/>
            <a:ext cx="16672349" cy="3679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34" lvl="1" indent="-302267" algn="l">
              <a:lnSpc>
                <a:spcPts val="2884"/>
              </a:lnSpc>
              <a:buFont typeface="Arial"/>
              <a:buChar char="•"/>
            </a:pPr>
            <a:r>
              <a:rPr lang="en-US" sz="2800" u="sng" spc="190">
                <a:solidFill>
                  <a:srgbClr val="545454"/>
                </a:solidFill>
                <a:latin typeface="Codec Pro"/>
                <a:ea typeface="Codec Pro"/>
                <a:cs typeface="Codec Pro"/>
                <a:sym typeface="Codec Pro"/>
              </a:rPr>
              <a:t>HTTPS://THESTORY.IS/EN/JOURNAL/CHAOS-REPORT</a:t>
            </a:r>
          </a:p>
          <a:p>
            <a:pPr algn="l">
              <a:lnSpc>
                <a:spcPts val="2884"/>
              </a:lnSpc>
            </a:pPr>
            <a:endParaRPr lang="en-US" sz="2800" u="sng" spc="190">
              <a:solidFill>
                <a:srgbClr val="545454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604534" lvl="1" indent="-302267" algn="l">
              <a:lnSpc>
                <a:spcPts val="2884"/>
              </a:lnSpc>
              <a:buFont typeface="Arial"/>
              <a:buChar char="•"/>
            </a:pPr>
            <a:r>
              <a:rPr lang="en-US" sz="2800" u="sng" spc="190">
                <a:solidFill>
                  <a:srgbClr val="545454"/>
                </a:solidFill>
                <a:latin typeface="Codec Pro"/>
                <a:ea typeface="Codec Pro"/>
                <a:cs typeface="Codec Pro"/>
                <a:sym typeface="Codec Pro"/>
              </a:rPr>
              <a:t>HTTPS://WWW.RUNN.IO/BLOG/IT-PROJECT-MANAGEMENT-STATISTICS</a:t>
            </a:r>
          </a:p>
          <a:p>
            <a:pPr algn="l">
              <a:lnSpc>
                <a:spcPts val="2884"/>
              </a:lnSpc>
            </a:pPr>
            <a:endParaRPr lang="en-US" sz="2800" u="sng" spc="190">
              <a:solidFill>
                <a:srgbClr val="545454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604534" lvl="1" indent="-302267" algn="l">
              <a:lnSpc>
                <a:spcPts val="2884"/>
              </a:lnSpc>
              <a:buFont typeface="Arial"/>
              <a:buChar char="•"/>
            </a:pPr>
            <a:r>
              <a:rPr lang="en-US" sz="2800" u="sng" spc="190">
                <a:solidFill>
                  <a:srgbClr val="545454"/>
                </a:solidFill>
                <a:latin typeface="Codec Pro"/>
                <a:ea typeface="Codec Pro"/>
                <a:cs typeface="Codec Pro"/>
                <a:sym typeface="Codec Pro"/>
              </a:rPr>
              <a:t>HTTPS://WWW.PMI.ORG/ABOUT/PRESS-MEDIA/2024/PMI-CHAMPIONS-A-NEW-ERA-OF-PROJECT-SUCCESS</a:t>
            </a:r>
          </a:p>
          <a:p>
            <a:pPr algn="l">
              <a:lnSpc>
                <a:spcPts val="2884"/>
              </a:lnSpc>
            </a:pPr>
            <a:endParaRPr lang="en-US" sz="2800" u="sng" spc="190">
              <a:solidFill>
                <a:srgbClr val="545454"/>
              </a:solidFill>
              <a:latin typeface="Codec Pro"/>
              <a:ea typeface="Codec Pro"/>
              <a:cs typeface="Codec Pro"/>
              <a:sym typeface="Codec Pro"/>
            </a:endParaRPr>
          </a:p>
          <a:p>
            <a:pPr marL="604534" lvl="1" indent="-302267" algn="l">
              <a:lnSpc>
                <a:spcPts val="2884"/>
              </a:lnSpc>
              <a:buFont typeface="Arial"/>
              <a:buChar char="•"/>
            </a:pPr>
            <a:r>
              <a:rPr lang="en-US" sz="2800" u="sng" spc="190">
                <a:solidFill>
                  <a:srgbClr val="545454"/>
                </a:solidFill>
                <a:latin typeface="Codec Pro"/>
                <a:ea typeface="Codec Pro"/>
                <a:cs typeface="Codec Pro"/>
                <a:sym typeface="Codec Pro"/>
              </a:rPr>
              <a:t>HTTPS://TIMESOFINDIA.INDIATIMES.COM/TECHNOLOGY/TECH-NEWS/MIT-STUDY-FINDS-95-OF-GENERATIVE-AI-PROJECTS-ARE-FAILING-ONLY-HYPE-LITTLE-TRANSFORMATION/ARTICLESHOW/123453071.CMS</a:t>
            </a:r>
          </a:p>
        </p:txBody>
      </p:sp>
      <p:sp>
        <p:nvSpPr>
          <p:cNvPr id="11" name="Freeform 11"/>
          <p:cNvSpPr/>
          <p:nvPr/>
        </p:nvSpPr>
        <p:spPr>
          <a:xfrm>
            <a:off x="-651470" y="-757964"/>
            <a:ext cx="3655283" cy="2173232"/>
          </a:xfrm>
          <a:custGeom>
            <a:avLst/>
            <a:gdLst/>
            <a:ahLst/>
            <a:cxnLst/>
            <a:rect l="l" t="t" r="r" b="b"/>
            <a:pathLst>
              <a:path w="3655283" h="2173232">
                <a:moveTo>
                  <a:pt x="0" y="0"/>
                </a:moveTo>
                <a:lnTo>
                  <a:pt x="3655283" y="0"/>
                </a:lnTo>
                <a:lnTo>
                  <a:pt x="3655283" y="2173232"/>
                </a:lnTo>
                <a:lnTo>
                  <a:pt x="0" y="21732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-1394806" y="659463"/>
            <a:ext cx="3484317" cy="2071585"/>
          </a:xfrm>
          <a:custGeom>
            <a:avLst/>
            <a:gdLst/>
            <a:ahLst/>
            <a:cxnLst/>
            <a:rect l="l" t="t" r="r" b="b"/>
            <a:pathLst>
              <a:path w="3484317" h="2071585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5113293" y="8973379"/>
            <a:ext cx="3484317" cy="2071585"/>
          </a:xfrm>
          <a:custGeom>
            <a:avLst/>
            <a:gdLst/>
            <a:ahLst/>
            <a:cxnLst/>
            <a:rect l="l" t="t" r="r" b="b"/>
            <a:pathLst>
              <a:path w="3484317" h="2071585">
                <a:moveTo>
                  <a:pt x="0" y="0"/>
                </a:moveTo>
                <a:lnTo>
                  <a:pt x="3484317" y="0"/>
                </a:lnTo>
                <a:lnTo>
                  <a:pt x="3484317" y="2071585"/>
                </a:lnTo>
                <a:lnTo>
                  <a:pt x="0" y="2071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6027523" y="7552462"/>
            <a:ext cx="3655283" cy="2173232"/>
          </a:xfrm>
          <a:custGeom>
            <a:avLst/>
            <a:gdLst/>
            <a:ahLst/>
            <a:cxnLst/>
            <a:rect l="l" t="t" r="r" b="b"/>
            <a:pathLst>
              <a:path w="3655283" h="2173232">
                <a:moveTo>
                  <a:pt x="0" y="0"/>
                </a:moveTo>
                <a:lnTo>
                  <a:pt x="3655283" y="0"/>
                </a:lnTo>
                <a:lnTo>
                  <a:pt x="3655283" y="2173231"/>
                </a:lnTo>
                <a:lnTo>
                  <a:pt x="0" y="21732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4E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39536" y="-549566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14315" y="479227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0"/>
                </a:moveTo>
                <a:lnTo>
                  <a:pt x="2789693" y="0"/>
                </a:lnTo>
                <a:lnTo>
                  <a:pt x="2789693" y="1658599"/>
                </a:lnTo>
                <a:lnTo>
                  <a:pt x="0" y="1658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00792" y="-422617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0" y="0"/>
                </a:moveTo>
                <a:lnTo>
                  <a:pt x="2362647" y="0"/>
                </a:lnTo>
                <a:lnTo>
                  <a:pt x="2362647" y="1404701"/>
                </a:lnTo>
                <a:lnTo>
                  <a:pt x="0" y="1404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V="1">
            <a:off x="-139536" y="9177967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V="1">
            <a:off x="-1214315" y="8234368"/>
            <a:ext cx="2789693" cy="1658599"/>
          </a:xfrm>
          <a:custGeom>
            <a:avLst/>
            <a:gdLst/>
            <a:ahLst/>
            <a:cxnLst/>
            <a:rect l="l" t="t" r="r" b="b"/>
            <a:pathLst>
              <a:path w="2789693" h="1658599">
                <a:moveTo>
                  <a:pt x="0" y="1658599"/>
                </a:moveTo>
                <a:lnTo>
                  <a:pt x="2789693" y="1658599"/>
                </a:lnTo>
                <a:lnTo>
                  <a:pt x="2789693" y="0"/>
                </a:lnTo>
                <a:lnTo>
                  <a:pt x="0" y="0"/>
                </a:lnTo>
                <a:lnTo>
                  <a:pt x="0" y="165859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-1000792" y="9238143"/>
            <a:ext cx="2362646" cy="1404701"/>
          </a:xfrm>
          <a:custGeom>
            <a:avLst/>
            <a:gdLst/>
            <a:ahLst/>
            <a:cxnLst/>
            <a:rect l="l" t="t" r="r" b="b"/>
            <a:pathLst>
              <a:path w="2362646" h="1404701">
                <a:moveTo>
                  <a:pt x="0" y="1404701"/>
                </a:moveTo>
                <a:lnTo>
                  <a:pt x="2362647" y="1404701"/>
                </a:lnTo>
                <a:lnTo>
                  <a:pt x="2362647" y="0"/>
                </a:lnTo>
                <a:lnTo>
                  <a:pt x="0" y="0"/>
                </a:lnTo>
                <a:lnTo>
                  <a:pt x="0" y="1404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956613" y="4332986"/>
            <a:ext cx="8200837" cy="1678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15"/>
              </a:lnSpc>
            </a:pPr>
            <a:r>
              <a:rPr lang="en-US" sz="6399" b="1">
                <a:solidFill>
                  <a:srgbClr val="15193E"/>
                </a:solidFill>
                <a:latin typeface="Codec Pro Ultra-Bold"/>
                <a:ea typeface="Codec Pro Ultra-Bold"/>
                <a:cs typeface="Codec Pro Ultra-Bold"/>
                <a:sym typeface="Codec Pro Ultra-Bold"/>
              </a:rPr>
              <a:t>MUCHAS GRACIAS POR SU ATENCIÓN</a:t>
            </a:r>
          </a:p>
        </p:txBody>
      </p:sp>
      <p:sp>
        <p:nvSpPr>
          <p:cNvPr id="9" name="Freeform 9"/>
          <p:cNvSpPr/>
          <p:nvPr/>
        </p:nvSpPr>
        <p:spPr>
          <a:xfrm>
            <a:off x="11821217" y="3354046"/>
            <a:ext cx="4155314" cy="3578908"/>
          </a:xfrm>
          <a:custGeom>
            <a:avLst/>
            <a:gdLst/>
            <a:ahLst/>
            <a:cxnLst/>
            <a:rect l="l" t="t" r="r" b="b"/>
            <a:pathLst>
              <a:path w="4155314" h="3578908">
                <a:moveTo>
                  <a:pt x="0" y="0"/>
                </a:moveTo>
                <a:lnTo>
                  <a:pt x="4155314" y="0"/>
                </a:lnTo>
                <a:lnTo>
                  <a:pt x="4155314" y="3578908"/>
                </a:lnTo>
                <a:lnTo>
                  <a:pt x="0" y="35789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75611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303</Words>
  <Application>Microsoft Office PowerPoint</Application>
  <PresentationFormat>Personalizado</PresentationFormat>
  <Paragraphs>20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Codec Pro Ultra-Bold</vt:lpstr>
      <vt:lpstr>Arial</vt:lpstr>
      <vt:lpstr>Calibri</vt:lpstr>
      <vt:lpstr>Codec Pro</vt:lpstr>
      <vt:lpstr>Codec Pro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negocios</dc:title>
  <dc:creator>Kyshu .</dc:creator>
  <cp:lastModifiedBy>Kyshu .</cp:lastModifiedBy>
  <cp:revision>1</cp:revision>
  <dcterms:created xsi:type="dcterms:W3CDTF">2006-08-16T00:00:00Z</dcterms:created>
  <dcterms:modified xsi:type="dcterms:W3CDTF">2025-08-25T01:52:32Z</dcterms:modified>
  <dc:identifier>DAGxBGb-obU</dc:identifier>
</cp:coreProperties>
</file>